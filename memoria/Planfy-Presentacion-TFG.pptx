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ECFBE">
              <a:alpha val="10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2" y="3200400"/>
            <a:ext cx="6400800" cy="64008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75504" y="9144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5" name="Image 0" descr="../frontend/planfyApp/src/assets/icon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824" y="1097280"/>
            <a:ext cx="128016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10896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ECFBE"/>
                </a:solidFill>
                <a:effectLst>
                  <a:glow rad="152400">
                    <a:srgbClr val="0ECFBE">
                      <a:alpha val="25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PLANFY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descubrimiento de planes mediante swipe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CFGS Desarrollo de Aplicaciones Web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54864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Lugo Benítez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Javier García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 Los Alcores · Curso 2025-26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ECFBE">
              <a:alpha val="8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CFBE"/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Planfy?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multiplataforma que </a:t>
            </a:r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descubre planes de ocio 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una interacción tipo swipe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347472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089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Desliza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estilo Tinder.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binaria, rápida.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926080"/>
            <a:ext cx="347472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1089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38912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4526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favoritos quedan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cuenta privada.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926080"/>
            <a:ext cx="347472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1089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13816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4526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planes en 8 ciudades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8 categorías.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ECFBE">
              <a:alpha val="10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2" y="3200400"/>
            <a:ext cx="6400800" cy="64008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hago este finde?"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2560320"/>
            <a:ext cx="3657600" cy="3017520"/>
          </a:xfrm>
          <a:prstGeom prst="roundRect">
            <a:avLst>
              <a:gd name="adj" fmla="val 6061"/>
            </a:avLst>
          </a:prstGeom>
          <a:solidFill>
            <a:srgbClr val="12202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6517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1554480" y="41148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usuarios abandonan apps de planes por exceso de información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2651760"/>
            <a:ext cx="5760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existentes
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Listados infinitos en TripAdvisor, Civitatis…
</a:t>
            </a:r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Filtros complejos que hay que configurar
</a:t>
            </a:r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Información dispersa en mil tabs
</a:t>
            </a:r>
            <a:pPr indent="0" marL="0">
              <a:buNone/>
            </a:pPr>
            <a:r>
              <a:rPr lang="en-US" sz="1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Lo que el usuario quiere:
</a:t>
            </a:r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Una opción cada vez
</a:t>
            </a:r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Decisión sí/no de un vistazo
</a:t>
            </a:r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Resultado relevante a su gusto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ECFBE">
              <a:alpha val="10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2" y="3200400"/>
            <a:ext cx="6400800" cy="64008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directo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Veamos Planfy en acción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63040" y="2103120"/>
            <a:ext cx="3931920" cy="4023360"/>
          </a:xfrm>
          <a:prstGeom prst="roundRect">
            <a:avLst>
              <a:gd name="adj" fmla="val 2326"/>
            </a:avLst>
          </a:prstGeom>
          <a:solidFill>
            <a:srgbClr val="0D1F24"/>
          </a:solidFill>
          <a:ln w="12700">
            <a:solidFill>
              <a:srgbClr val="0ECFBE"/>
            </a:solidFill>
            <a:prstDash val="solid"/>
          </a:ln>
        </p:spPr>
      </p:sp>
      <p:pic>
        <p:nvPicPr>
          <p:cNvPr id="7" name="Image 0" descr="C:\Users\descr\Desktop\Planfy\Planfy\memoria\capturas\03-dashboard-escritorio-cla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36192" y="2176272"/>
            <a:ext cx="3785616" cy="3877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0" y="2103120"/>
            <a:ext cx="2286000" cy="4023360"/>
          </a:xfrm>
          <a:prstGeom prst="roundRect">
            <a:avLst>
              <a:gd name="adj" fmla="val 4000"/>
            </a:avLst>
          </a:prstGeom>
          <a:solidFill>
            <a:srgbClr val="0D1F24"/>
          </a:solidFill>
          <a:ln w="12700">
            <a:solidFill>
              <a:srgbClr val="0ECFBE"/>
            </a:solidFill>
            <a:prstDash val="solid"/>
          </a:ln>
        </p:spPr>
      </p:sp>
      <p:pic>
        <p:nvPicPr>
          <p:cNvPr id="9" name="Image 1" descr="C:\Users\descr\Desktop\Planfy\Planfy\memoria\capturas\11-dashboard-movi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33872" y="2176272"/>
            <a:ext cx="2139696" cy="38770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412480" y="2103120"/>
            <a:ext cx="3200400" cy="4023360"/>
          </a:xfrm>
          <a:prstGeom prst="roundRect">
            <a:avLst>
              <a:gd name="adj" fmla="val 2857"/>
            </a:avLst>
          </a:prstGeom>
          <a:solidFill>
            <a:srgbClr val="0D1F24"/>
          </a:solidFill>
          <a:ln w="12700">
            <a:solidFill>
              <a:srgbClr val="0ECFBE"/>
            </a:solidFill>
            <a:prstDash val="solid"/>
          </a:ln>
        </p:spPr>
      </p:sp>
      <p:pic>
        <p:nvPicPr>
          <p:cNvPr id="11" name="Image 2" descr="C:\Users\descr\Desktop\Planfy\Planfy\memoria\capturas\08-favoritos-gri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85632" y="2176272"/>
            <a:ext cx="3054096" cy="38770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ECFBE">
              <a:alpha val="8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CFBE"/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standalone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46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mobile-first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160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Empaquetado nativo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02920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074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fuerte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155448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80560" y="228600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331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LTS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320040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246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6344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REST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411480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160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63440" y="4526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502920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5074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/ JPA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6344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155448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OPS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229600" y="228600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2331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124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BBDD relacional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0" y="320040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3246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41248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29600" y="411480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4160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412480" y="4526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backend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29600" y="502920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0" y="5074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41248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frontend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ECFBE">
              <a:alpha val="10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2" y="3200400"/>
            <a:ext cx="6400800" cy="64008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 desacopladas comunicadas por estándares abiertos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108960" cy="2926080"/>
          </a:xfrm>
          <a:prstGeom prst="roundRect">
            <a:avLst>
              <a:gd name="adj" fmla="val 7813"/>
            </a:avLst>
          </a:prstGeom>
          <a:solidFill>
            <a:srgbClr val="122024"/>
          </a:solidFill>
          <a:ln w="25400">
            <a:solidFill>
              <a:srgbClr val="0EC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Ionic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C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:4200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3108960" cy="2926080"/>
          </a:xfrm>
          <a:prstGeom prst="roundRect">
            <a:avLst>
              <a:gd name="adj" fmla="val 7813"/>
            </a:avLst>
          </a:prstGeom>
          <a:solidFill>
            <a:srgbClr val="122024"/>
          </a:solidFill>
          <a:ln w="25400">
            <a:solidFill>
              <a:srgbClr val="0EC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60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572000" y="3657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4206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C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2377440"/>
            <a:ext cx="3108960" cy="2926080"/>
          </a:xfrm>
          <a:prstGeom prst="roundRect">
            <a:avLst>
              <a:gd name="adj" fmla="val 7813"/>
            </a:avLst>
          </a:prstGeom>
          <a:solidFill>
            <a:srgbClr val="122024"/>
          </a:solidFill>
          <a:ln w="25400">
            <a:solidFill>
              <a:srgbClr val="0EC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2560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503920" y="3657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BBDD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03920" y="4206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C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:5444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94760" y="3703320"/>
            <a:ext cx="365760" cy="320040"/>
          </a:xfrm>
          <a:prstGeom prst="rightArrow">
            <a:avLst/>
          </a:prstGeom>
          <a:solidFill>
            <a:srgbClr val="0ECFB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26680" y="3703320"/>
            <a:ext cx="365760" cy="320040"/>
          </a:xfrm>
          <a:prstGeom prst="rightArrow">
            <a:avLst/>
          </a:prstGeom>
          <a:solidFill>
            <a:srgbClr val="0ECFBE"/>
          </a:solidFill>
          <a:ln/>
        </p:spPr>
      </p:sp>
      <p:sp>
        <p:nvSpPr>
          <p:cNvPr id="23" name="Text 21"/>
          <p:cNvSpPr/>
          <p:nvPr/>
        </p:nvSpPr>
        <p:spPr>
          <a:xfrm>
            <a:off x="3703320" y="4114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JWT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35240" y="4114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ECFBE">
              <a:alpha val="8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CFBE"/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entidades en tercera forma normal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858000" cy="4389120"/>
          </a:xfrm>
          <a:prstGeom prst="roundRect">
            <a:avLst>
              <a:gd name="adj" fmla="val 2083"/>
            </a:avLst>
          </a:prstGeom>
          <a:solidFill>
            <a:srgbClr val="0D1F24"/>
          </a:solidFill>
          <a:ln w="12700">
            <a:solidFill>
              <a:srgbClr val="0ECFBE"/>
            </a:solidFill>
            <a:prstDash val="solid"/>
          </a:ln>
        </p:spPr>
      </p:sp>
      <p:pic>
        <p:nvPicPr>
          <p:cNvPr id="7" name="Image 0" descr="C:\Users\descr\Desktop\Planfy\Planfy\memoria\capturas\diag-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93392"/>
            <a:ext cx="6711696" cy="42428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63840" y="1920240"/>
            <a:ext cx="3840480" cy="914400"/>
          </a:xfrm>
          <a:prstGeom prst="roundRect">
            <a:avLst>
              <a:gd name="adj" fmla="val 1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19202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961120" y="1920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863840" y="3017520"/>
            <a:ext cx="3840480" cy="914400"/>
          </a:xfrm>
          <a:prstGeom prst="roundRect">
            <a:avLst>
              <a:gd name="adj" fmla="val 1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30175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961120" y="3017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863840" y="4114800"/>
            <a:ext cx="3840480" cy="914400"/>
          </a:xfrm>
          <a:prstGeom prst="roundRect">
            <a:avLst>
              <a:gd name="adj" fmla="val 1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0" y="41148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8961120" y="4114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863840" y="5212080"/>
            <a:ext cx="3840480" cy="914400"/>
          </a:xfrm>
          <a:prstGeom prst="roundRect">
            <a:avLst>
              <a:gd name="adj" fmla="val 1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0" y="52120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8961120" y="5212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ECFBE">
              <a:alpha val="10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2" y="3200400"/>
            <a:ext cx="6400800" cy="64008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Spring Boot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77440" y="16916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 · PlanController · LikeController · MetaController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26517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· PlanService · LikeService · JwtService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118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77440" y="36118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Repositories sobre Hibernate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720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77440" y="45720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Ciudad · Categoria · Usuario · Rol · UserLikePlan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645920"/>
            <a:ext cx="4846320" cy="4023360"/>
          </a:xfrm>
          <a:prstGeom prst="roundRect">
            <a:avLst>
              <a:gd name="adj" fmla="val 2273"/>
            </a:avLst>
          </a:prstGeom>
          <a:solidFill>
            <a:srgbClr val="0D1F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19456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C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/auth/login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C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/auth/register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/plans/swipe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/plans/{id}/like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/plans/{id}/dislike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/plans/{id}/vote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/plans/me/liked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/ciudades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/categorias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ECFBE">
              <a:alpha val="8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CFBE"/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JWT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· Firma HS256 · BCrypt para contraseñas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17320" y="1920240"/>
            <a:ext cx="1188720" cy="11887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envía email + password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1188720" cy="11887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52044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3749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devuelve JWT firmado (24h)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78040" y="1920240"/>
            <a:ext cx="1188720" cy="11887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40080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 autenticada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749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Authorization: Bearer {token}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0" y="1920240"/>
            <a:ext cx="1188720" cy="11887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28116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JWT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81160" y="3749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+ carga de UserDetails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10972800" cy="1005840"/>
          </a:xfrm>
          <a:prstGeom prst="roundRect">
            <a:avLst>
              <a:gd name="adj" fmla="val 13636"/>
            </a:avLst>
          </a:prstGeom>
          <a:solidFill>
            <a:srgbClr val="FFF8E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440680"/>
            <a:ext cx="118872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4406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94560" y="53035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crítico resuelto: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lanzaba 500 con tokens caducados. Reescrito para devolver 401 que el frontend captura y redirige a /login.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ECFBE">
              <a:alpha val="10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2" y="3200400"/>
            <a:ext cx="6400800" cy="64008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Angular + Ionic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standalone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NgModules. Cada página y servicio se importa donde se usa.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inyectables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· PlanService · ImageService · MetaService
ProgressService · ThemeService · StorageService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HTTP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 el Bearer token y redirige al login si recibe 401.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0D1F24"/>
          </a:solidFill>
          <a:ln w="12700">
            <a:solidFill>
              <a:srgbClr val="0ECFBE"/>
            </a:solidFill>
            <a:prstDash val="solid"/>
          </a:ln>
        </p:spPr>
      </p:sp>
      <p:pic>
        <p:nvPicPr>
          <p:cNvPr id="7" name="Image 0" descr="C:\Users\descr\Desktop\Planfy\Planfy\memoria\capturas\03-dashboard-escritorio-cla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3952" y="1627632"/>
            <a:ext cx="5157216" cy="41513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ECFBE">
              <a:alpha val="8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CFBE"/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— paleta extraída del logo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0ECFB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#0ECFBE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155448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180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#0891B2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155448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7ED9C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mint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#7ED9CF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155448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E6F9F6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light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3524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#E6F9F6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66960" y="155448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0A1719"/>
          </a:solidFill>
          <a:ln/>
        </p:spPr>
      </p:sp>
      <p:sp>
        <p:nvSpPr>
          <p:cNvPr id="18" name="Text 16"/>
          <p:cNvSpPr/>
          <p:nvPr/>
        </p:nvSpPr>
        <p:spPr>
          <a:xfrm>
            <a:off x="996696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6696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#0A1719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97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🌓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0080" y="5029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5486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/ claro / oscuro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42062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4297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389120" y="5029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389120" y="5486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320px → 4K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420624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4297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8138160" y="5029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138160" y="5486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aria-label · reduced-motion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ECFBE">
              <a:alpha val="10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2" y="3200400"/>
            <a:ext cx="6400800" cy="64008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914400" cy="914400"/>
          </a:xfrm>
          <a:prstGeom prst="ellipse">
            <a:avLst/>
          </a:prstGeom>
          <a:solidFill>
            <a:srgbClr val="0ECFBE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736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1488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animada con drag, atajos teclado y botones físicos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783080"/>
            <a:ext cx="914400" cy="914400"/>
          </a:xfrm>
          <a:prstGeom prst="ellipse">
            <a:avLst/>
          </a:prstGeom>
          <a:solidFill>
            <a:srgbClr val="0ECFBE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58952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0" y="21488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de ciudad o categoría en el texto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37560"/>
            <a:ext cx="914400" cy="914400"/>
          </a:xfrm>
          <a:prstGeom prst="ellipse">
            <a:avLst/>
          </a:prstGeom>
          <a:solidFill>
            <a:srgbClr val="0ECFBE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37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37360" y="3246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3703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· categoría · precio máximo · solo gratuitos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1089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337560"/>
            <a:ext cx="914400" cy="914400"/>
          </a:xfrm>
          <a:prstGeom prst="ellipse">
            <a:avLst/>
          </a:prstGeom>
          <a:solidFill>
            <a:srgbClr val="0ECFBE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337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589520" y="3246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descubrir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89520" y="37033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shuffle cuando se han votado todos los planes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892040"/>
            <a:ext cx="914400" cy="914400"/>
          </a:xfrm>
          <a:prstGeom prst="ellipse">
            <a:avLst/>
          </a:prstGeom>
          <a:solidFill>
            <a:srgbClr val="0ECFBE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892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737360" y="4800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37360" y="5257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con imagen hero, mapa y compartir nativo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66344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4892040"/>
            <a:ext cx="914400" cy="914400"/>
          </a:xfrm>
          <a:prstGeom prst="ellipse">
            <a:avLst/>
          </a:prstGeom>
          <a:solidFill>
            <a:srgbClr val="0ECFBE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892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589520" y="4800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589520" y="5257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Deshacer la última acción de like / dislike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ECFBE">
              <a:alpha val="8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CFBE"/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extra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diferencia a Planfy de un MVP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6616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logros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788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badges desbloqueables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basados en tu actividad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011680"/>
            <a:ext cx="356616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66928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2788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 gusta Cultura"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inteligente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2011680"/>
            <a:ext cx="356616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50976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personales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09760" y="2788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top, ciudad top,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gratuitos, total favoritos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356616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82880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 bienvenida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49834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3 pasos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primera vez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4206240"/>
            <a:ext cx="356616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66928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49834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Share API nativa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fallback al portapapeles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4206240"/>
            <a:ext cx="356616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950976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reales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09760" y="49834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Commons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plan, con preload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ECFBE">
              <a:alpha val="10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2" y="3200400"/>
            <a:ext cx="6400800" cy="64008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· Docker Compose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0D1F24"/>
          </a:solidFill>
          <a:ln w="19050">
            <a:solidFill>
              <a:srgbClr val="0E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ctr" indent="0" marL="0">
              <a:buNone/>
            </a:pPr>
            <a:r>
              <a:rPr lang="en-US" sz="2200" b="1" dirty="0">
                <a:solidFill>
                  <a:srgbClr val="0EC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comando levanta los 3 contenedores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C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planfy_postgres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C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:5444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320040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3291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480560" y="3886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C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planfy_backend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4251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4617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C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320040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3291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229600" y="3886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C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planfy_frontend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251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617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C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:4200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servicios orquestados con un solo comando · datos persistidos en volumen Docker · puertos expuestos al host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ECFBE">
              <a:alpha val="8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CFBE"/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y aprendizajes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92808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JWT caducado producía 500 en lugar de 401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Filtro reescrito con try/catch específico para ExpiredJwtException → respuesta 401 controlada que el frontend captura y redirige a /login.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035808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88036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HTTP no se aplicaba a las peticiones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Estaba registrado en app.config.ts pero main.ts tenía sus propios providers. Movido withInterceptors([authInterceptor]) a main.ts.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178808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78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02336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bloquea las URLs /thumb/ desde origen externo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Migración a commons.wikimedia.org/wiki/Special:FilePath?width=800 — funciona desde cualquier origen.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321808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321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516636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irrelevantes con Loremflickr (gato en plan de cocina)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Reemplazo total a Wikipedia Commons (catalogada y moderada) + verificación previa con onload=true en el navegador.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ECFBE">
              <a:alpha val="10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2" y="3200400"/>
            <a:ext cx="6400800" cy="64008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mejoras futuras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con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real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554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554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134h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0" y="1463040"/>
            <a:ext cx="2743200" cy="1554480"/>
          </a:xfrm>
          <a:prstGeom prst="roundRect">
            <a:avLst>
              <a:gd name="adj" fmla="val 8824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1554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23544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consola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34440" y="40690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planes para rol ADMIN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074920" y="40690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cerca de mí (haversine)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15400" y="40690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y puntuación media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34440" y="53492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LocalNotifications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074920" y="53492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a inglés, catalán, euskera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915400" y="53492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producción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+ HTTPS + dominio propio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Planfy · TFG 2025-26 · Javier Lugo Benítez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ECFBE">
              <a:alpha val="10000"/>
            </a:srgbClr>
          </a:solidFill>
          <a:ln w="12700">
            <a:solidFill>
              <a:srgbClr val="0EC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2" y="3200400"/>
            <a:ext cx="6400800" cy="64008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0ECFBE"/>
                </a:solidFill>
                <a:effectLst>
                  <a:glow rad="203200">
                    <a:srgbClr val="0ECFBE">
                      <a:alpha val="30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0" y="4846320"/>
            <a:ext cx="6675120" cy="1463040"/>
          </a:xfrm>
          <a:prstGeom prst="roundRect">
            <a:avLst>
              <a:gd name="adj" fmla="val 9375"/>
            </a:avLst>
          </a:prstGeom>
          <a:solidFill>
            <a:srgbClr val="122024"/>
          </a:solidFill>
          <a:ln w="12700">
            <a:solidFill>
              <a:srgbClr val="0EC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49377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Lugo Benítez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54406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Javier García  ·  IES Los Alcores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58521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github.com/JLugoBenitez/Planfy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IES Los Alcores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Planfy — Defensa TFG</dc:title>
  <dc:subject>PptxGenJS Presentation</dc:subject>
  <dc:creator>Javier Lugo Benítez</dc:creator>
  <cp:lastModifiedBy>Javier Lugo Benítez</cp:lastModifiedBy>
  <cp:revision>1</cp:revision>
  <dcterms:created xsi:type="dcterms:W3CDTF">2026-04-28T19:50:46Z</dcterms:created>
  <dcterms:modified xsi:type="dcterms:W3CDTF">2026-04-28T19:50:46Z</dcterms:modified>
</cp:coreProperties>
</file>